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</p:sldMasterIdLst>
  <p:notesMasterIdLst>
    <p:notesMasterId r:id="rId15"/>
  </p:notesMasterIdLst>
  <p:sldIdLst>
    <p:sldId id="256" r:id="rId3"/>
    <p:sldId id="571" r:id="rId4"/>
    <p:sldId id="572" r:id="rId5"/>
    <p:sldId id="573" r:id="rId6"/>
    <p:sldId id="574" r:id="rId7"/>
    <p:sldId id="575" r:id="rId8"/>
    <p:sldId id="576" r:id="rId9"/>
    <p:sldId id="580" r:id="rId10"/>
    <p:sldId id="577" r:id="rId11"/>
    <p:sldId id="579" r:id="rId12"/>
    <p:sldId id="578" r:id="rId13"/>
    <p:sldId id="536" r:id="rId14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orient="horz" pos="9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B9636B-3D94-EB3D-7CF5-3935240F8C9F}" name="Ramar Bose" initials="RB" userId="S::ramar@edunetfoundation.org::ae727035-80f4-46a2-9b41-59f778a1b49a" providerId="AD"/>
  <p188:author id="{D0A8B7BB-36D1-777B-64C8-9A30C894A727}" name="Rashmi Mishra" initials="RM" userId="S::rmishra@edunetfoundation.org::6469e6c3-66fa-4f4f-9c10-a71ac4161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A751"/>
    <a:srgbClr val="263570"/>
    <a:srgbClr val="4A9DE2"/>
    <a:srgbClr val="88BFEC"/>
    <a:srgbClr val="F9B1B1"/>
    <a:srgbClr val="B2DE82"/>
    <a:srgbClr val="F57373"/>
    <a:srgbClr val="F03434"/>
    <a:srgbClr val="BC7D00"/>
    <a:srgbClr val="FFB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3818" autoAdjust="0"/>
  </p:normalViewPr>
  <p:slideViewPr>
    <p:cSldViewPr snapToGrid="0" showGuides="1">
      <p:cViewPr varScale="1">
        <p:scale>
          <a:sx n="82" d="100"/>
          <a:sy n="82" d="100"/>
        </p:scale>
        <p:origin x="691" y="72"/>
      </p:cViewPr>
      <p:guideLst>
        <p:guide orient="horz" pos="672"/>
        <p:guide pos="312"/>
        <p:guide orient="horz" pos="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8/10/relationships/authors" Target="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699836-02B7-459A-AF64-A000817D576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065E4E-ABE4-4C79-8716-B93932D5FBD3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</a:t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>
              <a:cs typeface="Calibri" panose="020F050202020403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12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FA99E-0146-4BD9-9E30-4EB71F3A4207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81918-31C6-44C6-A382-2FA557A3F6B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0374086" cy="6604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/>
          <p:cNvSpPr/>
          <p:nvPr userDrawn="1"/>
        </p:nvSpPr>
        <p:spPr>
          <a:xfrm>
            <a:off x="0" y="6692900"/>
            <a:ext cx="12192000" cy="1651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28" name="Picture 4" descr="A black background with grey text&#10;&#10;AI-generated content may be incorrect.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05" y="91005"/>
            <a:ext cx="1466678" cy="47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powerbi.microsoft.com/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-32657" y="3429000"/>
            <a:ext cx="424543" cy="34290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0" y="0"/>
            <a:ext cx="228600" cy="34290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913913" y="0"/>
            <a:ext cx="4985657" cy="315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-32657" y="6509659"/>
            <a:ext cx="12888684" cy="348341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A black background with grey text&#10;&#10;AI-generated content may be incorrect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04" y="316620"/>
            <a:ext cx="1725854" cy="56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1999" cy="68573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/>
        </p:nvSpPr>
        <p:spPr>
          <a:xfrm>
            <a:off x="594127" y="1232488"/>
            <a:ext cx="4746772" cy="25067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b="1" kern="1200" dirty="0">
                <a:latin typeface="+mj-lt"/>
                <a:ea typeface="+mj-ea"/>
                <a:cs typeface="+mj-cs"/>
              </a:rPr>
              <a:t>CAPSTONE </a:t>
            </a:r>
            <a:r>
              <a:rPr lang="en-US" sz="2800" b="1" dirty="0"/>
              <a:t>PROJECT</a:t>
            </a:r>
            <a:endParaRPr lang="en-US" sz="5100" dirty="0">
              <a:latin typeface="Aptos"/>
            </a:endParaRPr>
          </a:p>
          <a:p>
            <a:pPr algn="l"/>
            <a:br>
              <a:rPr lang="en-US" sz="5100" b="1" dirty="0"/>
            </a:br>
            <a:r>
              <a:rPr lang="en-US" sz="2900" b="1" dirty="0"/>
              <a:t>Project Title:</a:t>
            </a:r>
            <a:r>
              <a:rPr lang="en-US" sz="2900" dirty="0"/>
              <a:t> E-Commerce Sales Analysis using Power BI</a:t>
            </a:r>
            <a:endParaRPr lang="en-US" sz="2900" dirty="0">
              <a:latin typeface="Aptos"/>
            </a:endParaRPr>
          </a:p>
          <a:p>
            <a:pPr algn="l"/>
            <a:endParaRPr lang="en-US" sz="5100" b="1" kern="1200" dirty="0"/>
          </a:p>
        </p:txBody>
      </p:sp>
      <p:sp>
        <p:nvSpPr>
          <p:cNvPr id="5" name="Subtitle 2"/>
          <p:cNvSpPr>
            <a:spLocks noGrp="1"/>
          </p:cNvSpPr>
          <p:nvPr/>
        </p:nvSpPr>
        <p:spPr>
          <a:xfrm>
            <a:off x="594127" y="3739889"/>
            <a:ext cx="4166512" cy="191553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600"/>
              </a:spcAft>
            </a:pPr>
            <a:r>
              <a:rPr lang="en-US" sz="1600" b="1" cap="all" dirty="0"/>
              <a:t>Presented By</a:t>
            </a:r>
            <a:endParaRPr lang="en-US" sz="1600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Student Name: </a:t>
            </a:r>
            <a:r>
              <a:rPr lang="fi-FI" sz="1600" dirty="0"/>
              <a:t>Karthikeya Satya Sai Pavan Challapalli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College Name: </a:t>
            </a:r>
            <a:r>
              <a:rPr lang="en-US" sz="1600" cap="all" dirty="0"/>
              <a:t>a</a:t>
            </a:r>
            <a:r>
              <a:rPr lang="en-IN" sz="1600" dirty="0" err="1"/>
              <a:t>nnabhathuni</a:t>
            </a:r>
            <a:r>
              <a:rPr lang="en-IN" sz="1600" dirty="0"/>
              <a:t> Satyanarayana Degree College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Department: </a:t>
            </a:r>
            <a:r>
              <a:rPr lang="en-IN" sz="1600" dirty="0"/>
              <a:t>BSc Computer Science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Email ID: </a:t>
            </a:r>
            <a:r>
              <a:rPr lang="en-IN" sz="1600" dirty="0"/>
              <a:t>karthikchallapalli666@gmail.com</a:t>
            </a:r>
            <a:endParaRPr lang="en-US" sz="1600" b="1" cap="all" dirty="0"/>
          </a:p>
        </p:txBody>
      </p:sp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3CBFFB-80EF-6ECB-A5EE-4AC2FEC16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6426" y="585009"/>
            <a:ext cx="4715868" cy="55918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9850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5400" b="1" cap="all" dirty="0">
                <a:latin typeface="Arial" panose="020B0604020202020204"/>
                <a:cs typeface="Arial" panose="020B0604020202020204"/>
              </a:rPr>
              <a:t>OUTLINE:</a:t>
            </a:r>
            <a:endParaRPr lang="en-US" sz="5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387" y="1822228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Problem Statement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Proposed System/Solution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System Development Approach 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Algorithm &amp; Deployment  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Result 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Conclusion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Future Scope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References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endParaRPr lang="en-GB" sz="2200" dirty="0">
              <a:latin typeface="Aptos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Problem Statement:</a:t>
            </a:r>
            <a:endParaRPr lang="en-US"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512" y="171507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/>
              <a:t>In today’s competitive e-commerce environment, businesses generate a large amount of sales and customer data every day. However, many organizations struggle to </a:t>
            </a:r>
            <a:r>
              <a:rPr lang="en-US" sz="1600" b="1" dirty="0"/>
              <a:t>analyze this data effectively</a:t>
            </a:r>
            <a:r>
              <a:rPr lang="en-US" sz="1600" dirty="0"/>
              <a:t> and extract meaningful insights that can support better business decisions. Raw data stored in spreadsheets or databases is often complex and difficult to interpret without proper visualization tools.</a:t>
            </a:r>
          </a:p>
          <a:p>
            <a:r>
              <a:rPr lang="en-US" sz="1600" dirty="0"/>
              <a:t>The main problem is the </a:t>
            </a:r>
            <a:r>
              <a:rPr lang="en-US" sz="1600" b="1" dirty="0"/>
              <a:t>lack of an interactive and centralized system</a:t>
            </a:r>
            <a:r>
              <a:rPr lang="en-US" sz="1600" dirty="0"/>
              <a:t> that allows stakeholders to quickly understand key metrics such as sales performance, product demand, regional sales distribution, and customer purchasing behavior.</a:t>
            </a:r>
          </a:p>
          <a:p>
            <a:r>
              <a:rPr lang="en-US" sz="1600" dirty="0"/>
              <a:t>To address this issue, a </a:t>
            </a:r>
            <a:r>
              <a:rPr lang="en-US" sz="1600" b="1" dirty="0"/>
              <a:t>Power BI–based interactive dashboard</a:t>
            </a:r>
            <a:r>
              <a:rPr lang="en-US" sz="1600" dirty="0"/>
              <a:t> is developed. The system integrates sales data and transforms it into meaningful visualizations such as charts, graphs, and KPIs. This enables business managers to </a:t>
            </a:r>
            <a:r>
              <a:rPr lang="en-US" sz="1600" b="1" dirty="0"/>
              <a:t>monitor performance, identify trends, track top-performing products, and make data-driven decisions</a:t>
            </a:r>
            <a:r>
              <a:rPr lang="en-US" sz="1600" dirty="0"/>
              <a:t> efficiently.</a:t>
            </a:r>
          </a:p>
          <a:p>
            <a:r>
              <a:rPr lang="en-US" sz="1600" dirty="0"/>
              <a:t>The goal of this project is to design a </a:t>
            </a:r>
            <a:r>
              <a:rPr lang="en-US" sz="1600" b="1" dirty="0"/>
              <a:t>dynamic and user-friendly Power BI dashboard</a:t>
            </a:r>
            <a:r>
              <a:rPr lang="en-US" sz="1600" dirty="0"/>
              <a:t> that provides real-time insights into e-commerce sales performance and supports strategic planning.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Proposed Solution: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9075" y="1304304"/>
            <a:ext cx="10380501" cy="543239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1600" dirty="0"/>
              <a:t>The proposed system aims to develop an interactive </a:t>
            </a:r>
            <a:r>
              <a:rPr lang="en-US" sz="1600" b="1" dirty="0"/>
              <a:t>Power BI dashboard</a:t>
            </a:r>
            <a:r>
              <a:rPr lang="en-US" sz="1600" dirty="0"/>
              <a:t> that analyzes e-commerce sales data and provides meaningful business insights. The dashboard helps users easily monitor sales performance, identify trends, and compare product categories and regions.</a:t>
            </a:r>
          </a:p>
          <a:p>
            <a:r>
              <a:rPr lang="en-US" sz="1600" dirty="0"/>
              <a:t>The system consists of the following components:</a:t>
            </a:r>
          </a:p>
          <a:p>
            <a:r>
              <a:rPr lang="en-US" sz="1600" b="1" dirty="0"/>
              <a:t>Data Collection:</a:t>
            </a:r>
            <a:br>
              <a:rPr lang="en-US" sz="1600" dirty="0"/>
            </a:br>
            <a:r>
              <a:rPr lang="en-US" sz="1600" dirty="0"/>
              <a:t>The dataset containing e-commerce sales information such as product category, sales amount, profit, region, and monthly sales trends is collected and imported into Power BI.</a:t>
            </a:r>
          </a:p>
          <a:p>
            <a:r>
              <a:rPr lang="en-US" sz="1600" b="1" dirty="0"/>
              <a:t>Data Processing:</a:t>
            </a:r>
            <a:br>
              <a:rPr lang="en-US" sz="1600" dirty="0"/>
            </a:br>
            <a:r>
              <a:rPr lang="en-US" sz="1600" dirty="0"/>
              <a:t>The dataset is cleaned and organized to ensure accuracy and consistency. Relevant fields such as sales, profit, product category, and region are used for analysis.</a:t>
            </a:r>
          </a:p>
          <a:p>
            <a:r>
              <a:rPr lang="en-US" sz="1600" b="1" dirty="0"/>
              <a:t>Data Visualization:</a:t>
            </a:r>
            <a:br>
              <a:rPr lang="en-US" sz="1600" dirty="0"/>
            </a:br>
            <a:r>
              <a:rPr lang="en-US" sz="1600" dirty="0"/>
              <a:t>Power BI visualizations are created to represent key business metrics including:</a:t>
            </a:r>
          </a:p>
          <a:p>
            <a:r>
              <a:rPr lang="en-US" sz="1600" dirty="0"/>
              <a:t>Total Sales</a:t>
            </a:r>
          </a:p>
          <a:p>
            <a:r>
              <a:rPr lang="en-US" sz="1600" dirty="0"/>
              <a:t>Total Profit</a:t>
            </a:r>
          </a:p>
          <a:p>
            <a:r>
              <a:rPr lang="en-US" sz="1600" dirty="0"/>
              <a:t>Total Products Sold</a:t>
            </a:r>
          </a:p>
          <a:p>
            <a:r>
              <a:rPr lang="en-US" sz="1600" dirty="0"/>
              <a:t>Sales by Category</a:t>
            </a:r>
          </a:p>
          <a:p>
            <a:r>
              <a:rPr lang="en-US" sz="1600" b="1" dirty="0"/>
              <a:t>Interactive Dashboard:</a:t>
            </a:r>
            <a:br>
              <a:rPr lang="en-US" sz="1600" dirty="0"/>
            </a:br>
            <a:r>
              <a:rPr lang="en-US" sz="1600" dirty="0"/>
              <a:t>Interactive filters such as </a:t>
            </a:r>
            <a:r>
              <a:rPr lang="en-US" sz="1600" b="1" dirty="0"/>
              <a:t>Region Filter</a:t>
            </a:r>
            <a:r>
              <a:rPr lang="en-US" sz="1600" dirty="0"/>
              <a:t> and </a:t>
            </a:r>
            <a:r>
              <a:rPr lang="en-US" sz="1600" b="1" dirty="0"/>
              <a:t>Category Filter</a:t>
            </a:r>
            <a:r>
              <a:rPr lang="en-US" sz="1600" dirty="0"/>
              <a:t> allow users to dynamically explore the data and gain deeper insights into business performance.</a:t>
            </a:r>
          </a:p>
          <a:p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48" y="699528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System  Approach: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7409" y="1362269"/>
            <a:ext cx="10515600" cy="4605277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sz="1600" b="1" dirty="0"/>
              <a:t>System Approach</a:t>
            </a:r>
          </a:p>
          <a:p>
            <a:r>
              <a:rPr lang="en-US" sz="1600" dirty="0"/>
              <a:t>The system approach describes the process used to develop the </a:t>
            </a:r>
            <a:r>
              <a:rPr lang="en-US" sz="1600" b="1" dirty="0"/>
              <a:t>E-Commerce Sales Analysis Dashboard</a:t>
            </a:r>
            <a:r>
              <a:rPr lang="en-US" sz="1600" dirty="0"/>
              <a:t> using Power BI.</a:t>
            </a:r>
          </a:p>
          <a:p>
            <a:r>
              <a:rPr lang="en-US" sz="1600" b="1" dirty="0"/>
              <a:t>System Requirements</a:t>
            </a:r>
            <a:endParaRPr lang="en-US" sz="1600" dirty="0"/>
          </a:p>
          <a:p>
            <a:r>
              <a:rPr lang="en-US" sz="1600" dirty="0"/>
              <a:t>Software: Power BI Desktop</a:t>
            </a:r>
          </a:p>
          <a:p>
            <a:r>
              <a:rPr lang="en-US" sz="1600" dirty="0"/>
              <a:t>Dataset: E-commerce sales dataset (CSV format)</a:t>
            </a:r>
          </a:p>
          <a:p>
            <a:r>
              <a:rPr lang="en-US" sz="1600" dirty="0"/>
              <a:t>Operating System: Windows 10/11</a:t>
            </a:r>
          </a:p>
          <a:p>
            <a:r>
              <a:rPr lang="en-US" sz="1600" b="1" dirty="0"/>
              <a:t>Tools and Technologies</a:t>
            </a:r>
            <a:endParaRPr lang="en-US" sz="1600" dirty="0"/>
          </a:p>
          <a:p>
            <a:r>
              <a:rPr lang="en-US" sz="1600" dirty="0"/>
              <a:t>Power BI Desktop for data analysis and visualization</a:t>
            </a:r>
          </a:p>
          <a:p>
            <a:r>
              <a:rPr lang="en-US" sz="1600" dirty="0"/>
              <a:t>Data cleaning and transformation using Power BI tools</a:t>
            </a:r>
          </a:p>
          <a:p>
            <a:r>
              <a:rPr lang="en-US" sz="1600" b="1" dirty="0"/>
              <a:t>Development Process</a:t>
            </a:r>
            <a:endParaRPr lang="en-US" sz="1600" dirty="0"/>
          </a:p>
          <a:p>
            <a:r>
              <a:rPr lang="en-US" sz="1600" dirty="0"/>
              <a:t>Import the e-commerce sales dataset into Power BI.</a:t>
            </a:r>
          </a:p>
          <a:p>
            <a:r>
              <a:rPr lang="en-US" sz="1600" dirty="0"/>
              <a:t>Clean and organize the data for analysis.</a:t>
            </a:r>
          </a:p>
          <a:p>
            <a:r>
              <a:rPr lang="en-US" sz="1600" dirty="0"/>
              <a:t>Create key metrics such as Total Sales, Total Profit, and Total Products Sold.</a:t>
            </a:r>
          </a:p>
          <a:p>
            <a:r>
              <a:rPr lang="en-US" sz="1600" dirty="0"/>
              <a:t>Build visualizations including bar charts, line charts, and pie charts.</a:t>
            </a:r>
          </a:p>
          <a:p>
            <a:r>
              <a:rPr lang="en-US" sz="1600" dirty="0"/>
              <a:t>Add interactive filters for Region and Category to explore data dynamically.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Algorithm &amp; Deployment: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700" y="1572196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b="1" dirty="0"/>
              <a:t>Algorithm / Process Used</a:t>
            </a:r>
            <a:endParaRPr lang="en-US" sz="1600" dirty="0"/>
          </a:p>
          <a:p>
            <a:r>
              <a:rPr lang="en-US" sz="1600" b="1" dirty="0"/>
              <a:t>Data Input</a:t>
            </a:r>
            <a:endParaRPr lang="en-US" sz="1600" dirty="0"/>
          </a:p>
          <a:p>
            <a:r>
              <a:rPr lang="en-US" sz="1600" dirty="0"/>
              <a:t>E-commerce sales dataset containing product category, sales amount, profit, region, and month.</a:t>
            </a:r>
          </a:p>
          <a:p>
            <a:r>
              <a:rPr lang="en-US" sz="1600" b="1" dirty="0"/>
              <a:t>Data Processing</a:t>
            </a:r>
            <a:endParaRPr lang="en-US" sz="1600" dirty="0"/>
          </a:p>
          <a:p>
            <a:r>
              <a:rPr lang="en-US" sz="1600" dirty="0"/>
              <a:t>Data is imported into Power BI and cleaned to remove inconsistencies.</a:t>
            </a:r>
          </a:p>
          <a:p>
            <a:r>
              <a:rPr lang="en-US" sz="1600" dirty="0"/>
              <a:t>Relevant fields such as sales, profit, category, and region are selected for analysis.</a:t>
            </a:r>
          </a:p>
          <a:p>
            <a:r>
              <a:rPr lang="en-US" sz="1600" b="1" dirty="0"/>
              <a:t>Visualization Process</a:t>
            </a:r>
            <a:endParaRPr lang="en-US" sz="1600" dirty="0"/>
          </a:p>
          <a:p>
            <a:r>
              <a:rPr lang="en-US" sz="1600" dirty="0"/>
              <a:t>Key performance indicators (KPIs) such as </a:t>
            </a:r>
            <a:r>
              <a:rPr lang="en-US" sz="1600" b="1" dirty="0"/>
              <a:t>Total Sales, Total Profit, and Total Products Sold</a:t>
            </a:r>
            <a:r>
              <a:rPr lang="en-US" sz="1600" dirty="0"/>
              <a:t> are created.</a:t>
            </a:r>
          </a:p>
          <a:p>
            <a:r>
              <a:rPr lang="en-US" sz="1600" dirty="0"/>
              <a:t>Charts including </a:t>
            </a:r>
            <a:r>
              <a:rPr lang="en-US" sz="1600" b="1" dirty="0"/>
              <a:t>bar charts, line charts, and pie charts</a:t>
            </a:r>
            <a:r>
              <a:rPr lang="en-US" sz="1600" dirty="0"/>
              <a:t> are used to visualize trends and comparisons.</a:t>
            </a:r>
          </a:p>
          <a:p>
            <a:r>
              <a:rPr lang="en-US" sz="1600" b="1" dirty="0"/>
              <a:t>Dashboard Deployment</a:t>
            </a:r>
            <a:endParaRPr lang="en-US" sz="1600" dirty="0"/>
          </a:p>
          <a:p>
            <a:r>
              <a:rPr lang="en-US" sz="1600" dirty="0"/>
              <a:t>All visualizations are combined into an </a:t>
            </a:r>
            <a:r>
              <a:rPr lang="en-US" sz="1600" b="1" dirty="0"/>
              <a:t>interactive Power BI dashboard</a:t>
            </a:r>
            <a:r>
              <a:rPr lang="en-US" sz="1600" dirty="0"/>
              <a:t>.</a:t>
            </a:r>
          </a:p>
          <a:p>
            <a:r>
              <a:rPr lang="en-US" sz="1600" dirty="0"/>
              <a:t>Filters for </a:t>
            </a:r>
            <a:r>
              <a:rPr lang="en-US" sz="1600" b="1" dirty="0"/>
              <a:t>Region and Category</a:t>
            </a:r>
            <a:r>
              <a:rPr lang="en-US" sz="1600" dirty="0"/>
              <a:t> allow users to explore the data dynamically.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Result: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8137" y="1584103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/>
              <a:t>The developed </a:t>
            </a:r>
            <a:r>
              <a:rPr lang="en-US" sz="1600" b="1" dirty="0"/>
              <a:t>Power BI dashboard</a:t>
            </a:r>
            <a:r>
              <a:rPr lang="en-US" sz="1600" dirty="0"/>
              <a:t> successfully visualizes e-commerce sales data and provides meaningful insights into business performance.</a:t>
            </a:r>
          </a:p>
          <a:p>
            <a:r>
              <a:rPr lang="en-US" sz="1600" b="1" dirty="0"/>
              <a:t>Key Outcomes</a:t>
            </a:r>
            <a:endParaRPr lang="en-US" sz="1600" dirty="0"/>
          </a:p>
          <a:p>
            <a:r>
              <a:rPr lang="en-US" sz="1600" dirty="0"/>
              <a:t>The dashboard displays important KPIs such as </a:t>
            </a:r>
            <a:r>
              <a:rPr lang="en-US" sz="1600" b="1" dirty="0"/>
              <a:t>Total Sales, Total Profit, and Total Products Sold</a:t>
            </a:r>
            <a:r>
              <a:rPr lang="en-US" sz="1600" dirty="0"/>
              <a:t>.</a:t>
            </a:r>
          </a:p>
          <a:p>
            <a:r>
              <a:rPr lang="en-US" sz="1600" dirty="0"/>
              <a:t>Sales performance is analyzed using </a:t>
            </a:r>
            <a:r>
              <a:rPr lang="en-US" sz="1600" b="1" dirty="0"/>
              <a:t>Sales by Category</a:t>
            </a:r>
            <a:r>
              <a:rPr lang="en-US" sz="1600" dirty="0"/>
              <a:t>, helping identify which product category generates the most revenue.</a:t>
            </a:r>
          </a:p>
          <a:p>
            <a:r>
              <a:rPr lang="en-US" sz="1600" dirty="0"/>
              <a:t>The </a:t>
            </a:r>
            <a:r>
              <a:rPr lang="en-US" sz="1600" b="1" dirty="0"/>
              <a:t>Monthly Sales Trend</a:t>
            </a:r>
            <a:r>
              <a:rPr lang="en-US" sz="1600" dirty="0"/>
              <a:t> chart shows how sales vary across different months.</a:t>
            </a:r>
          </a:p>
          <a:p>
            <a:r>
              <a:rPr lang="en-US" sz="1600" b="1" dirty="0"/>
              <a:t>Regional Sales Distribution</a:t>
            </a:r>
            <a:r>
              <a:rPr lang="en-US" sz="1600" dirty="0"/>
              <a:t> provides insights into sales performance across different regions.</a:t>
            </a:r>
          </a:p>
          <a:p>
            <a:r>
              <a:rPr lang="en-US" sz="1600" dirty="0"/>
              <a:t>The </a:t>
            </a:r>
            <a:r>
              <a:rPr lang="en-US" sz="1600" b="1" dirty="0"/>
              <a:t>Top Products by Sales</a:t>
            </a:r>
            <a:r>
              <a:rPr lang="en-US" sz="1600" dirty="0"/>
              <a:t> chart highlights the best-performing products.</a:t>
            </a:r>
          </a:p>
          <a:p>
            <a:r>
              <a:rPr lang="en-US" sz="1600" b="1" dirty="0"/>
              <a:t>Interactive Analysis</a:t>
            </a:r>
            <a:endParaRPr lang="en-US" sz="1600" dirty="0"/>
          </a:p>
          <a:p>
            <a:r>
              <a:rPr lang="en-US" sz="1600" dirty="0"/>
              <a:t>Users can apply </a:t>
            </a:r>
            <a:r>
              <a:rPr lang="en-US" sz="1600" b="1" dirty="0"/>
              <a:t>Region Filter</a:t>
            </a:r>
            <a:r>
              <a:rPr lang="en-US" sz="1600" dirty="0"/>
              <a:t> and </a:t>
            </a:r>
            <a:r>
              <a:rPr lang="en-US" sz="1600" b="1" dirty="0"/>
              <a:t>Category Filter</a:t>
            </a:r>
            <a:r>
              <a:rPr lang="en-US" sz="1600" dirty="0"/>
              <a:t> to dynamically explore the data and gain deeper insights.</a:t>
            </a:r>
          </a:p>
          <a:p>
            <a:r>
              <a:rPr lang="en-US" sz="1600" dirty="0"/>
              <a:t>The dashboard enables businesses to </a:t>
            </a:r>
            <a:r>
              <a:rPr lang="en-US" sz="1600" b="1" dirty="0"/>
              <a:t>monitor sales performance, identify trends, and support data-driven decision making</a:t>
            </a:r>
            <a:r>
              <a:rPr lang="en-US" sz="1600"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8E9446-01A8-8BBC-857D-AF5E7FA75A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2" y="718457"/>
            <a:ext cx="11616613" cy="5902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985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Conclusion: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589" y="162239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/>
              <a:t>The </a:t>
            </a:r>
            <a:r>
              <a:rPr lang="en-US" sz="1600" b="1" dirty="0"/>
              <a:t>E-Commerce Sales Analysis Dashboard developed using Power BI</a:t>
            </a:r>
            <a:r>
              <a:rPr lang="en-US" sz="1600" dirty="0"/>
              <a:t> effectively converts complex raw sales data into clear and meaningful visual insights. By integrating various data visualization techniques such as charts, graphs, and KPIs, the dashboard provides a comprehensive overview of business performance. Key metrics including </a:t>
            </a:r>
            <a:r>
              <a:rPr lang="en-US" sz="1600" b="1" dirty="0"/>
              <a:t>Total Sales, Total Profit, Product Category Performance, Monthly Sales Trends, and Regional Sales Distribution</a:t>
            </a:r>
            <a:r>
              <a:rPr lang="en-US" sz="1600" dirty="0"/>
              <a:t> help users quickly understand important business patterns.</a:t>
            </a:r>
          </a:p>
          <a:p>
            <a:r>
              <a:rPr lang="en-US" sz="1600" dirty="0"/>
              <a:t>The interactive features of the dashboard, such as </a:t>
            </a:r>
            <a:r>
              <a:rPr lang="en-US" sz="1600" b="1" dirty="0"/>
              <a:t>region and category filters</a:t>
            </a:r>
            <a:r>
              <a:rPr lang="en-US" sz="1600" dirty="0"/>
              <a:t>, allow users to dynamically explore the data and gain deeper insights. This enables businesses to easily identify </a:t>
            </a:r>
            <a:r>
              <a:rPr lang="en-US" sz="1600" b="1" dirty="0"/>
              <a:t>top-performing products, seasonal sales patterns, and regional demand differences</a:t>
            </a:r>
            <a:r>
              <a:rPr lang="en-US" sz="1600" dirty="0"/>
              <a:t>.</a:t>
            </a:r>
          </a:p>
          <a:p>
            <a:r>
              <a:rPr lang="en-US" sz="1600" dirty="0"/>
              <a:t>Overall, the project demonstrates how </a:t>
            </a:r>
            <a:r>
              <a:rPr lang="en-US" sz="1600" b="1" dirty="0"/>
              <a:t>Power BI can be used as a powerful business intelligence tool</a:t>
            </a:r>
            <a:r>
              <a:rPr lang="en-US" sz="1600" dirty="0"/>
              <a:t> to analyze large datasets, simplify complex information, and support </a:t>
            </a:r>
            <a:r>
              <a:rPr lang="en-US" sz="1600" b="1" dirty="0"/>
              <a:t>data-driven decision making</a:t>
            </a:r>
            <a:r>
              <a:rPr lang="en-US" sz="1600" dirty="0"/>
              <a:t>. The developed dashboard helps organizations monitor performance more efficiently and provides valuable insights that can improve strategic planning and business growth.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Future scope: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071" y="130443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dirty="0"/>
              <a:t>The dashboard can be enhanced by integrating </a:t>
            </a:r>
            <a:r>
              <a:rPr lang="en-US" sz="2400" b="1" dirty="0"/>
              <a:t>real-time sales data</a:t>
            </a:r>
            <a:r>
              <a:rPr lang="en-US" sz="2400" dirty="0"/>
              <a:t> from live business systems.</a:t>
            </a:r>
          </a:p>
          <a:p>
            <a:r>
              <a:rPr lang="en-US" sz="2400" dirty="0"/>
              <a:t>Additional datasets such as </a:t>
            </a:r>
            <a:r>
              <a:rPr lang="en-US" sz="2400" b="1" dirty="0"/>
              <a:t>customer demographics, marketing campaigns, and seasonal trends</a:t>
            </a:r>
            <a:r>
              <a:rPr lang="en-US" sz="2400" dirty="0"/>
              <a:t> can be incorporated for deeper analysis.</a:t>
            </a:r>
          </a:p>
          <a:p>
            <a:r>
              <a:rPr lang="en-US" sz="2400" dirty="0"/>
              <a:t>Advanced analytics techniques such as </a:t>
            </a:r>
            <a:r>
              <a:rPr lang="en-US" sz="2400" b="1" dirty="0"/>
              <a:t>predictive sales forecasting</a:t>
            </a:r>
            <a:r>
              <a:rPr lang="en-US" sz="2400" dirty="0"/>
              <a:t> can be implemented to estimate future sales trends.</a:t>
            </a:r>
          </a:p>
          <a:p>
            <a:r>
              <a:rPr lang="en-US" sz="2400" dirty="0"/>
              <a:t>The dashboard can be expanded to analyze </a:t>
            </a:r>
            <a:r>
              <a:rPr lang="en-US" sz="2400" b="1" dirty="0"/>
              <a:t>multiple regions, cities, or international markets</a:t>
            </a:r>
            <a:r>
              <a:rPr lang="en-US" sz="2400" dirty="0"/>
              <a:t>.</a:t>
            </a:r>
          </a:p>
          <a:p>
            <a:r>
              <a:rPr lang="en-US" sz="2400" dirty="0"/>
              <a:t>Integration with </a:t>
            </a:r>
            <a:r>
              <a:rPr lang="en-US" sz="2400" b="1" dirty="0"/>
              <a:t>cloud platforms and automated data refresh</a:t>
            </a:r>
            <a:r>
              <a:rPr lang="en-US" sz="2400" dirty="0"/>
              <a:t> can improve accessibility and scalability.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References:</a:t>
            </a:r>
            <a:endParaRPr lang="en-US"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6804" y="1551125"/>
            <a:ext cx="10515600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IN" sz="1600" dirty="0"/>
              <a:t>Microsoft Power BI Documentation – </a:t>
            </a:r>
            <a:r>
              <a:rPr lang="en-IN" sz="1600" dirty="0">
                <a:hlinkClick r:id="rId2"/>
              </a:rPr>
              <a:t>https://powerbi.microsoft.com</a:t>
            </a:r>
            <a:endParaRPr lang="en-IN" sz="1600" dirty="0"/>
          </a:p>
          <a:p>
            <a:r>
              <a:rPr lang="en-IN" sz="1600" dirty="0"/>
              <a:t>Ferrari, A., &amp; Russo, M. (2016). </a:t>
            </a:r>
            <a:r>
              <a:rPr lang="en-IN" sz="1600" i="1" dirty="0"/>
              <a:t>Introducing Microsoft Power BI</a:t>
            </a:r>
            <a:r>
              <a:rPr lang="en-IN" sz="1600" dirty="0"/>
              <a:t>. Microsoft Press.</a:t>
            </a:r>
          </a:p>
          <a:p>
            <a:r>
              <a:rPr lang="en-IN" sz="1600" dirty="0"/>
              <a:t>Powell, B. (2017). </a:t>
            </a:r>
            <a:r>
              <a:rPr lang="en-IN" sz="1600" i="1" dirty="0"/>
              <a:t>Microsoft Power BI Cookbook</a:t>
            </a:r>
            <a:r>
              <a:rPr lang="en-IN" sz="1600" dirty="0"/>
              <a:t>. </a:t>
            </a:r>
            <a:r>
              <a:rPr lang="en-IN" sz="1600" dirty="0" err="1"/>
              <a:t>Packt</a:t>
            </a:r>
            <a:r>
              <a:rPr lang="en-IN" sz="1600" dirty="0"/>
              <a:t> Publishing.</a:t>
            </a:r>
          </a:p>
          <a:p>
            <a:r>
              <a:rPr lang="en-IN" sz="1600" dirty="0"/>
              <a:t>Tirupati, K., Joshi, A., &amp; Singh, S. (2023). </a:t>
            </a:r>
            <a:r>
              <a:rPr lang="en-IN" sz="1600" i="1" dirty="0"/>
              <a:t>Leveraging Power BI for Enhanced Data Visualization and Business Intelligence</a:t>
            </a:r>
            <a:r>
              <a:rPr lang="en-IN" sz="1600" dirty="0"/>
              <a:t>. </a:t>
            </a:r>
          </a:p>
          <a:p>
            <a:r>
              <a:rPr lang="en-IN" sz="1600" dirty="0"/>
              <a:t>Gonçalves, C. (2023). </a:t>
            </a:r>
            <a:r>
              <a:rPr lang="en-IN" sz="1600" i="1" dirty="0"/>
              <a:t>Developing Integrated Performance Dashboards using Power BI</a:t>
            </a:r>
            <a:r>
              <a:rPr lang="en-IN" sz="1600" dirty="0"/>
              <a:t>. </a:t>
            </a:r>
          </a:p>
          <a:p>
            <a:r>
              <a:rPr lang="en-IN" sz="1600" b="1" dirty="0"/>
              <a:t>GitHub Link:</a:t>
            </a:r>
            <a:br>
              <a:rPr lang="en-IN" sz="1600" dirty="0"/>
            </a:br>
            <a:r>
              <a:rPr lang="en-IN" sz="1600" dirty="0"/>
              <a:t>https://github.com/Karthik6-cpu/powerbi-ecommerce-dashboard.git</a:t>
            </a:r>
          </a:p>
          <a:p>
            <a:pPr marL="0" indent="0">
              <a:buNone/>
            </a:pPr>
            <a:endParaRPr lang="en-IN" sz="1600" u="sng" dirty="0">
              <a:solidFill>
                <a:srgbClr val="0070C0"/>
              </a:solidFill>
              <a:latin typeface="Franklin Gothic Book" panose="020B0503020102020204"/>
            </a:endParaRPr>
          </a:p>
          <a:p>
            <a:pPr marL="0" indent="0">
              <a:buNone/>
            </a:pPr>
            <a:endParaRPr lang="en-IN" sz="1600" dirty="0">
              <a:latin typeface="Franklin Gothic Book" panose="020B05030201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/>
          <p:cNvSpPr txBox="1"/>
          <p:nvPr/>
        </p:nvSpPr>
        <p:spPr>
          <a:xfrm>
            <a:off x="314324" y="6312352"/>
            <a:ext cx="3724275" cy="295275"/>
          </a:xfrm>
          <a:prstGeom prst="rect">
            <a:avLst/>
          </a:prstGeom>
        </p:spPr>
        <p:txBody>
          <a:bodyPr/>
          <a:lstStyle>
            <a:lvl1pPr marL="228600" indent="-2286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00" indent="-1905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0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8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990" indent="-173990">
              <a:buFont typeface="Arial" panose="020B0604020202020204" pitchFamily="34" charset="0"/>
              <a:buNone/>
            </a:pPr>
            <a:endParaRPr 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/>
          <p:cNvSpPr txBox="1"/>
          <p:nvPr/>
        </p:nvSpPr>
        <p:spPr>
          <a:xfrm>
            <a:off x="3247621" y="3009471"/>
            <a:ext cx="5696757" cy="839057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ctr" defTabSz="609600" rtl="0" eaLnBrk="1" latinLnBrk="0" hangingPunct="1">
              <a:spcBef>
                <a:spcPct val="0"/>
              </a:spcBef>
              <a:buNone/>
              <a:defRPr sz="29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OFFICE THEME" val="TmdBxN3j"/>
  <p:tag name="ARTICULATE_PROJECT_OPEN" val="0"/>
  <p:tag name="ARTICULATE_SLIDE_COUNT" val="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1172</Words>
  <Application>Microsoft Office PowerPoint</Application>
  <PresentationFormat>Widescreen</PresentationFormat>
  <Paragraphs>93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Franklin Gothic Book</vt:lpstr>
      <vt:lpstr>1_Office Theme</vt:lpstr>
      <vt:lpstr>Custom Design</vt:lpstr>
      <vt:lpstr>PowerPoint Presentation</vt:lpstr>
      <vt:lpstr>OUTLINE:</vt:lpstr>
      <vt:lpstr>Problem Statement:</vt:lpstr>
      <vt:lpstr>Proposed Solution:</vt:lpstr>
      <vt:lpstr>System  Approach:</vt:lpstr>
      <vt:lpstr>Algorithm &amp; Deployment:</vt:lpstr>
      <vt:lpstr>Result:</vt:lpstr>
      <vt:lpstr>PowerPoint Presentation</vt:lpstr>
      <vt:lpstr>Conclusion:</vt:lpstr>
      <vt:lpstr>Future scope:</vt:lpstr>
      <vt:lpstr>References: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Vikrant Nath Nagar</dc:creator>
  <cp:lastModifiedBy>KARTHIK CH</cp:lastModifiedBy>
  <cp:revision>105</cp:revision>
  <dcterms:created xsi:type="dcterms:W3CDTF">2024-05-21T11:55:00Z</dcterms:created>
  <dcterms:modified xsi:type="dcterms:W3CDTF">2026-03-16T10:41:45Z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8775663C-0243-495A-BCAB-F653BDE41EC7</vt:lpwstr>
  </property>
  <property fmtid="{D5CDD505-2E9C-101B-9397-08002B2CF9AE}" pid="3" name="ArticulatePath">
    <vt:lpwstr>https://edunetfoundationorg-my.sharepoint.com/personal/kaisar_edunetfoundation_org/Documents/Beutified ppt/MSITI/Micro Degree/Content/Module 4 Data Science/PPT/1. Introduction to Data Science</vt:lpwstr>
  </property>
  <property fmtid="{D5CDD505-2E9C-101B-9397-08002B2CF9AE}" pid="4" name="ICV">
    <vt:lpwstr>EE4E1345D65D4F85A477FE2A1A549664_12</vt:lpwstr>
  </property>
  <property fmtid="{D5CDD505-2E9C-101B-9397-08002B2CF9AE}" pid="5" name="KSOProductBuildVer">
    <vt:lpwstr>1033-12.2.0.23155</vt:lpwstr>
  </property>
</Properties>
</file>